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1fc12845354536" /><Relationship Type="http://schemas.openxmlformats.org/officeDocument/2006/relationships/extended-properties" Target="/docProps/app.xml" Id="Rfb01c2dca0b843a7" /><Relationship Type="http://schemas.openxmlformats.org/officeDocument/2006/relationships/officeDocument" Target="/ppt/presentation.xml" Id="Rd859ce63018749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0bdc2c4f74b5d"/>
  </p:sldMasterIdLst>
  <p:notesMasterIdLst>
    <p:notesMasterId xmlns:r="http://schemas.openxmlformats.org/officeDocument/2006/relationships" r:id="R552ac9e2afc642a5"/>
  </p:notesMasterIdLst>
  <p:sldIdLst>
    <p:sldId xmlns:r="http://schemas.openxmlformats.org/officeDocument/2006/relationships" id="256" r:id="Rd8ae490bd8444f08"/>
    <p:sldId xmlns:r="http://schemas.openxmlformats.org/officeDocument/2006/relationships" id="257" r:id="R71492675e1844382"/>
    <p:sldId xmlns:r="http://schemas.openxmlformats.org/officeDocument/2006/relationships" id="258" r:id="R9e82389540d140a1"/>
    <p:sldId xmlns:r="http://schemas.openxmlformats.org/officeDocument/2006/relationships" id="259" r:id="Red4dc0a062af4ccb"/>
    <p:sldId xmlns:r="http://schemas.openxmlformats.org/officeDocument/2006/relationships" id="260" r:id="R5213bc4ca8154471"/>
    <p:sldId xmlns:r="http://schemas.openxmlformats.org/officeDocument/2006/relationships" id="261" r:id="R67ad4f0d97e04afb"/>
    <p:sldId xmlns:r="http://schemas.openxmlformats.org/officeDocument/2006/relationships" id="262" r:id="R02bd31021dfc43ff"/>
    <p:sldId xmlns:r="http://schemas.openxmlformats.org/officeDocument/2006/relationships" id="263" r:id="R7c8b593ff8d74d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0bdc2c4f74b5d" /><Relationship Type="http://schemas.openxmlformats.org/officeDocument/2006/relationships/theme" Target="/ppt/theme/theme1.xml" Id="R44ed25c20ca54fe4" /><Relationship Type="http://schemas.openxmlformats.org/officeDocument/2006/relationships/notesMaster" Target="/ppt/notesMasters/notesMaster1.xml" Id="R552ac9e2afc642a5" /><Relationship Type="http://schemas.openxmlformats.org/officeDocument/2006/relationships/presProps" Target="/ppt/presProps.xml" Id="R471e5885d2574dad" /><Relationship Type="http://schemas.openxmlformats.org/officeDocument/2006/relationships/viewProps" Target="/ppt/viewProps.xml" Id="Rf75ee1c1189f49c5" /><Relationship Type="http://schemas.openxmlformats.org/officeDocument/2006/relationships/tableStyles" Target="/ppt/tableStyles.xml" Id="Re109dba0d74a4fa7" /><Relationship Type="http://schemas.openxmlformats.org/officeDocument/2006/relationships/slide" Target="/ppt/slides/slide1.xml" Id="Rd8ae490bd8444f08" /><Relationship Type="http://schemas.openxmlformats.org/officeDocument/2006/relationships/slide" Target="/ppt/slides/slide2.xml" Id="R71492675e1844382" /><Relationship Type="http://schemas.openxmlformats.org/officeDocument/2006/relationships/slide" Target="/ppt/slides/slide3.xml" Id="R9e82389540d140a1" /><Relationship Type="http://schemas.openxmlformats.org/officeDocument/2006/relationships/slide" Target="/ppt/slides/slide4.xml" Id="Red4dc0a062af4ccb" /><Relationship Type="http://schemas.openxmlformats.org/officeDocument/2006/relationships/slide" Target="/ppt/slides/slide5.xml" Id="R5213bc4ca8154471" /><Relationship Type="http://schemas.openxmlformats.org/officeDocument/2006/relationships/slide" Target="/ppt/slides/slide6.xml" Id="R67ad4f0d97e04afb" /><Relationship Type="http://schemas.openxmlformats.org/officeDocument/2006/relationships/slide" Target="/ppt/slides/slide7.xml" Id="R02bd31021dfc43ff" /><Relationship Type="http://schemas.openxmlformats.org/officeDocument/2006/relationships/slide" Target="/ppt/slides/slide8.xml" Id="R7c8b593ff8d74d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afe161f7b21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89e670e8c496e" /><Relationship Type="http://schemas.openxmlformats.org/officeDocument/2006/relationships/notesMaster" Target="/ppt/notesMasters/notesMaster1.xml" Id="Re2bc49e7055141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96ffbe3c044759" /><Relationship Type="http://schemas.openxmlformats.org/officeDocument/2006/relationships/notesMaster" Target="/ppt/notesMasters/notesMaster1.xml" Id="Rb230c3e404e649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452699a30f4dc5" /><Relationship Type="http://schemas.openxmlformats.org/officeDocument/2006/relationships/notesMaster" Target="/ppt/notesMasters/notesMaster1.xml" Id="R621399f3ab044e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76819c0b60450b" /><Relationship Type="http://schemas.openxmlformats.org/officeDocument/2006/relationships/notesMaster" Target="/ppt/notesMasters/notesMaster1.xml" Id="R5751212a16b141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2d973653174d50" /><Relationship Type="http://schemas.openxmlformats.org/officeDocument/2006/relationships/notesMaster" Target="/ppt/notesMasters/notesMaster1.xml" Id="R24a0f2ac4c284e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5a7510f7a34f4f" /><Relationship Type="http://schemas.openxmlformats.org/officeDocument/2006/relationships/notesMaster" Target="/ppt/notesMasters/notesMaster1.xml" Id="R31b00b718ba949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13ec2a78b44d25" /><Relationship Type="http://schemas.openxmlformats.org/officeDocument/2006/relationships/notesMaster" Target="/ppt/notesMasters/notesMaster1.xml" Id="Rdfcbf6be6ddd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5c3066da294c9c" /><Relationship Type="http://schemas.openxmlformats.org/officeDocument/2006/relationships/notesMaster" Target="/ppt/notesMasters/notesMaster1.xml" Id="R705096fa66de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a general framing: this is an enterprise maintenance platform with multiple user surfaces and one operational backbone.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deploy/client/src/App.tsx</a:t>
            </a:r>
          </a:p>
          <a:p xmlns:a="http://schemas.openxmlformats.org/drawingml/2006/main">
            <a:r>
              <a:t>- deploy/client/src/modules/core/pages/EnterpriseHub.tsx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deploy/server/prisma/schema.prisma</a:t>
            </a:r>
          </a:p>
          <a:p xmlns:a="http://schemas.openxmlformats.org/drawingml/2006/main">
            <a:r>
              <a:t>- deploy/mobile/package.json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numbers as evidence of scope, then talk about the product categories: execution modules, planning modules and knowledge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deploy/client/src/modules/core/pages/EnterpriseHub.tsx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deploy/server/prisma/schema.prisma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feel product-oriented rather than purely technical. Explain the three user surfaces and the importance of one session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deploy/client/src/App.tsx</a:t>
            </a:r>
          </a:p>
          <a:p xmlns:a="http://schemas.openxmlformats.org/drawingml/2006/main">
            <a:r>
              <a:t>- deploy/client/src/modules/core/pages/EnterpriseHub.tsx</a:t>
            </a:r>
          </a:p>
          <a:p xmlns:a="http://schemas.openxmlformats.org/drawingml/2006/main">
            <a:r>
              <a:t>- deploy/mobile/app/(tabs)/index.tsx</a:t>
            </a:r>
          </a:p>
          <a:p xmlns:a="http://schemas.openxmlformats.org/drawingml/2006/main">
            <a:r>
              <a:t>- deploy/client/src/modules/cognitive/ChatInterface.tsx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general and stack-focused. Call out exact technologies only where they help position maturity and maintainability.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deploy/client/package.json</a:t>
            </a:r>
          </a:p>
          <a:p xmlns:a="http://schemas.openxmlformats.org/drawingml/2006/main">
            <a:r>
              <a:t>- deploy/server/package.json</a:t>
            </a:r>
          </a:p>
          <a:p xmlns:a="http://schemas.openxmlformats.org/drawingml/2006/main">
            <a:r>
              <a:t>- deploy/mobile/package.json</a:t>
            </a:r>
          </a:p>
          <a:p xmlns:a="http://schemas.openxmlformats.org/drawingml/2006/main">
            <a:r>
              <a:t>- deploy/cognitive/main.py</a:t>
            </a:r>
          </a:p>
          <a:p xmlns:a="http://schemas.openxmlformats.org/drawingml/2006/main">
            <a:r>
              <a:t>- deploy/cognitive/llm_service.py</a:t>
            </a:r>
          </a:p>
          <a:p xmlns:a="http://schemas.openxmlformats.org/drawingml/2006/main">
            <a:r>
              <a:t>- deploy/README.md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Architecturally, the key message is controlled separation with a shared contract. The modules are many, but the platform model is singular.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deploy/server/prisma/schema.prisma</a:t>
            </a:r>
          </a:p>
          <a:p xmlns:a="http://schemas.openxmlformats.org/drawingml/2006/main">
            <a:r>
              <a:t>- deploy/cognitive/main.py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this as a balanced engineering slide: the foldering is strong, but the test gap and a few oversized screens are real maintainability concerns.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deploy/client/src/App.tsx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deploy/server/prisma/schema.prisma</a:t>
            </a:r>
          </a:p>
          <a:p xmlns:a="http://schemas.openxmlformats.org/drawingml/2006/main">
            <a:r>
              <a:t>- deploy/mobile/package.json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strengths slide. Keep it complimentary but technical: architecture, shared data, and domain breadth are the core positives.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deploy/client/src/modules/core/pages/EnterpriseHub.tsx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deploy/server/prisma/schema.prisma</a:t>
            </a:r>
          </a:p>
          <a:p xmlns:a="http://schemas.openxmlformats.org/drawingml/2006/main">
            <a:r>
              <a:t>- deploy/mobile/app/(tabs)/index.tsx</a:t>
            </a:r>
          </a:p>
          <a:p xmlns:a="http://schemas.openxmlformats.org/drawingml/2006/main">
            <a:r>
              <a:t>- deploy/client/src/modules/cognitive/ChatInterface.tsx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two explicit blocker findings, then summarize the broader engineering recommendation: protect trust boundaries and reduce regression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deploy/server/src/controllers/authController.ts</a:t>
            </a:r>
          </a:p>
          <a:p xmlns:a="http://schemas.openxmlformats.org/drawingml/2006/main">
            <a:r>
              <a:t>- deploy/server/prisma/schema.prisma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deploy/client/src/App.tsx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dbe01b52e44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6E569A4-6A9E-49AC-B5B5-2B1B462EB4E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1CB6E35-45A1-4F32-B752-2C4B7D4DFBE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E1D95D-A3E4-4DCE-8BCE-547D1617B58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9EDB47-BE1C-4268-8A7A-752014421C5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6aebc720bab4bb3" /><Relationship Type="http://schemas.openxmlformats.org/officeDocument/2006/relationships/slideLayout" Target="/ppt/slideLayouts/slideLayout2.xml" Id="Ra733f1dccdeb4e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7B6911-EDB0-45BC-926E-DC6B7851A1C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3f1dccdeb4e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aa4859d26a4b7f" /><Relationship Type="http://schemas.openxmlformats.org/officeDocument/2006/relationships/image" Target="/ppt/media/image.png" Id="R65a0e06831b24ba0" /><Relationship Type="http://schemas.openxmlformats.org/officeDocument/2006/relationships/image" Target="/ppt/media/image.jpeg" Id="R5d7ad63c13194448" /><Relationship Type="http://schemas.openxmlformats.org/officeDocument/2006/relationships/notesSlide" Target="/ppt/notesSlides/notesSlide1.xml" Id="R938bfc509d8b4a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ae909fa03343db" /><Relationship Type="http://schemas.openxmlformats.org/officeDocument/2006/relationships/image" Target="/ppt/media/image2.png" Id="Rf53621ae53914371" /><Relationship Type="http://schemas.openxmlformats.org/officeDocument/2006/relationships/notesSlide" Target="/ppt/notesSlides/notesSlide2.xml" Id="R242eaa222b1b49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ca962594c34111" /><Relationship Type="http://schemas.openxmlformats.org/officeDocument/2006/relationships/image" Target="/ppt/media/image3.png" Id="R07a1ed5d9eb342e2" /><Relationship Type="http://schemas.openxmlformats.org/officeDocument/2006/relationships/image" Target="/ppt/media/image4.png" Id="Re4117705fc1c42cd" /><Relationship Type="http://schemas.openxmlformats.org/officeDocument/2006/relationships/notesSlide" Target="/ppt/notesSlides/notesSlide3.xml" Id="R5a0917723ada4d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91e369ae754d08" /><Relationship Type="http://schemas.openxmlformats.org/officeDocument/2006/relationships/image" Target="/ppt/media/image5.png" Id="R3ae9d3ea7d6d4c67" /><Relationship Type="http://schemas.openxmlformats.org/officeDocument/2006/relationships/notesSlide" Target="/ppt/notesSlides/notesSlide4.xml" Id="Rf24b33f9ba6c45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cf34a6356d49dc" /><Relationship Type="http://schemas.openxmlformats.org/officeDocument/2006/relationships/image" Target="/ppt/media/image6.png" Id="Rbf1aabc11ec148e7" /><Relationship Type="http://schemas.openxmlformats.org/officeDocument/2006/relationships/notesSlide" Target="/ppt/notesSlides/notesSlide5.xml" Id="R60af92fe229441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90cd23bc341a8" /><Relationship Type="http://schemas.openxmlformats.org/officeDocument/2006/relationships/image" Target="/ppt/media/image7.png" Id="R1ed55174fe7e47d5" /><Relationship Type="http://schemas.openxmlformats.org/officeDocument/2006/relationships/notesSlide" Target="/ppt/notesSlides/notesSlide6.xml" Id="R1e99d1b353bd4d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90c362662a406e" /><Relationship Type="http://schemas.openxmlformats.org/officeDocument/2006/relationships/image" Target="/ppt/media/image8.png" Id="Ra4696553f5c740f6" /><Relationship Type="http://schemas.openxmlformats.org/officeDocument/2006/relationships/notesSlide" Target="/ppt/notesSlides/notesSlide7.xml" Id="Rc0afff13d38c4c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ab29596bf94989" /><Relationship Type="http://schemas.openxmlformats.org/officeDocument/2006/relationships/image" Target="/ppt/media/image9.png" Id="Rbcf2288658f54423" /><Relationship Type="http://schemas.openxmlformats.org/officeDocument/2006/relationships/notesSlide" Target="/ppt/notesSlides/notesSlide8.xml" Id="Rccefcbac7f5944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0e06831b24ba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60461-7B71-4677-9412-F52DC920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9CC85-A570-4667-A43C-B85148E9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161CD-F437-4FF9-AD0E-0B7854F1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92269-A2C4-4861-95F7-A7B9FD6A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92E46-FDD5-4747-A3F7-CF4F9B12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91321-2F19-45D7-9750-4D533804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E9952-DC72-45F9-A3F9-F21CCE5B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62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E443F-3C55-4673-8034-A2E3C996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333750" cy="41148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087AB-3BD2-43D6-815B-E0DE766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05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ad63c13194448"/>
          <a:stretch xmlns:a="http://schemas.openxmlformats.org/drawingml/2006/main"/>
        </p:blipFill>
        <p:spPr>
          <a:xfrm xmlns:a="http://schemas.openxmlformats.org/drawingml/2006/main">
            <a:off x="9707146" y="704850"/>
            <a:ext cx="816807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C56D8-3CAA-4D0F-AD69-A2AD3ED9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GENERAL APP OVERVIEW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BD05C-6EC5-437F-A191-3B22E821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Maintenance Management Platform</a:t>
            </a:r>
          </a:p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Features, Structure &amp;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A9A84-432D-4FE3-88C4-7F2F072D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General engineering deck covering app features, product structure, tech stack and expert code review for the ONGC Ankleshwar Asset maintenance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17415-A734-437A-BC7F-6524300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2724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8492D-B64F-48BB-A5F0-DC1F6439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335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F62"/>
                </a:solidFill>
              </a:defRPr>
            </a:pPr>
            <a:r>
              <a:rPr sz="1050" b="1">
                <a:solidFill>
                  <a:srgbClr val="0B5F62"/>
                </a:solidFill>
              </a:rPr>
              <a:t>Web Console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5F458-157A-4F0A-9726-4343958F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29 routes, role-aware hub, dense specialist modules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A707A-53FD-4695-9CDA-A00E4E9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724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348D7-0F72-46EF-A550-7F826F72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F62"/>
                </a:solidFill>
              </a:defRPr>
            </a:pPr>
            <a:r>
              <a:rPr sz="1050" b="1">
                <a:solidFill>
                  <a:srgbClr val="0B5F62"/>
                </a:solidFill>
              </a:rPr>
              <a:t>Mobile Field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5EBBE-E289-4547-9701-0C3D9D0E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Expo Router shell with KPI strip, health watch and module cards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C03E3-C780-4D7D-AAA4-25B897AC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2724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295C3-3D61-4567-9096-B0A667BE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F62"/>
                </a:solidFill>
              </a:defRPr>
            </a:pPr>
            <a:r>
              <a:rPr sz="1050" b="1">
                <a:solidFill>
                  <a:srgbClr val="0B5F62"/>
                </a:solidFill>
              </a:rPr>
              <a:t>Kelvin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AC1C9-8E40-4258-9534-96848414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FastAPI RAG service with local Ollama and Gemma 4 model discovery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23647-252B-4B2D-B3CA-C038CC1A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CC9FD-6193-4365-9E6D-F010CB5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Broad maintenance platform across web, mobile and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2CC593-E315-49CD-B4FD-7263DCA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415610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621ae5391437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00BFC-DC94-4241-8420-5BDC92DC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9DA51-D98A-432A-8ED0-F89CCA0C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B4BE4-D945-4811-97CD-AFB6672B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EE0F3-55F3-4BE9-B7B4-02CE783A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8F7A2-3E42-40D3-9D23-1A3ADC48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0EA40-1CF7-40AC-A7B6-D6119D68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808C7-E3CB-4E9B-B365-0F012825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FEATURE LANDSCAPE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FBEE8-079A-4463-9DB8-7BA5529E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02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BE0C9-4790-4283-BBD2-2A6E580A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CD4A4-C7F4-4E06-961A-45B1EF5C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5B76D-2886-4D07-B02D-FFC36070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app already covers a wide operational feature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C94D1-ED6E-4C55-A3AE-0208ADD6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current product footprint spans day-to-day maintenance execution, planning workflows, document access, analytics and cognitive assistance.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A00E8-1DD2-4944-A52F-C269F435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A5D0A-7C4C-474C-AD35-27D2429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8CA25-5D8E-43E9-A179-2D82C735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48168-B4D4-45FD-9EE0-E5E90F49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2AB74-891B-4B86-93B3-9443A101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097DA-8BE1-4B01-BE6B-70ADF4C6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Knowledge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65245-3880-466C-A93B-A6D2A1A5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30002-690B-4387-A0BE-6FD00B04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D80CB-B5D4-4B95-BC29-8D7616AB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7213A-1F5F-4F04-8315-09C4C16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Role-aware module entries on the web 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AE10B-D5E3-4461-AF7C-8973456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EnterpriseHub.tsx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E35BD-8B75-4725-9CC4-22ADC3FC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3014C-463F-4D45-9299-395717C8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E990A-7158-4064-94A8-B83BD9A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31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ABF71-FD63-4862-B5B4-42140A03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Mounted API route groups behind the app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29D06B-494E-4A50-AD74-186B9C3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server/src/index.ts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7E9D7-39C3-4D21-ACF0-1DC83B1E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BB205E-7332-4D3C-AE4B-72C00D8E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B7D463-482B-48F6-8B63-7759E089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0BFE70-B651-42D9-B846-E8BEE18A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Prisma models in the shared operational schema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15D88E-B1C7-48A5-9D56-F910578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server/prisma/schema.prisma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E70AAB-F281-4F10-ABE8-243F687B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895151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1ed5d9eb342e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E4E25-3920-43C7-9DBB-E4C42AB2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26202-5041-42FA-B0F6-F38CB416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22107-8E60-4EA4-83BA-300268AD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F8D51-D2A3-4E60-BD39-4E0818B9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D7B53-20EA-4A36-B0B8-755F3EE2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F14E3-C46C-4E77-B9E0-F59DEFDA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39B0E-3E7B-44E0-956A-CFE855BD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PRODUCT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46D0D-1AF9-4012-8E8A-EBBBFE8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03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E3D04-D030-4391-937E-E2956F9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F65C7-8AA6-4A26-A17E-4B2C0CE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FE1ED-6941-4366-B0FB-ECBBB32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product is structured as linked user surfaces, not one giant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BAB3A-8ECD-4DB8-841C-1BE906F3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experience begins with a universal login, branches into specialist modules, and extends into mobile and Kelvin AI without creating a separate data universe.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4BA2D-7FD3-42B6-838E-B08669E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24BA4-E109-40A7-A1A1-24BBCA6F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9D45C-D7BD-45BB-9EA6-6983F3AA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9468B-61E8-427F-BD39-406BB021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Mobile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E6C34-0D57-46B3-A355-BF841E42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B3A07-1080-43C8-BBDC-F352049E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Universal Login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424ED-AE28-4119-99BD-86481C49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435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17705fc1c42cd"/>
          <a:stretch xmlns:a="http://schemas.openxmlformats.org/drawingml/2006/main"/>
        </p:blipFill>
        <p:spPr>
          <a:xfrm xmlns:a="http://schemas.openxmlformats.org/drawingml/2006/main">
            <a:off x="10601325" y="52482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67509-F511-4BAB-91F1-AE99C5FD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1E391-BCEF-40D0-83F2-90AABFC3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4ECD8-E549-4D0A-8D69-D7171448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B1900-B10B-467C-87AF-2766FC43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2A66EF-B85A-4818-9040-8AA46E2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AE9098-E8CD-433F-A91A-72485941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45A53-17B8-4040-996B-0C018101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Web console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C4E0E4-9AEB-497B-848A-89CC47CE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browser app acts as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control-room shell: role-filtered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hub, specialist module routes,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dense workflows and a floating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Kelvin assistant.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EE7AD1-DDAC-4D0B-8288-C3935760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6D81B-206D-47DE-8286-466B081A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7D909-9457-4CF6-9724-514D674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8FE93-8568-4D5D-8139-BEACD251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74E16-0596-447B-B14F-82853D1E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83B9F-E3A2-47B7-95A5-C0AE5F75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0F203-3CEC-4F93-810A-A36902E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Mobile shell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C42581-D437-440E-993E-BD40B2A2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Expo app mirrors field work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with KPI strip, health watch,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module cards and secure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token-backed access for technicians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and supervisors.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5C3B95-9E65-4050-9910-B9356BA6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B89FA0-359A-401D-AB18-755DB402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780E9-2B9F-4562-8CC6-DA7EAFA2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8F6CD6-FC57-4DF0-9024-A344DF9F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A3F5BD-84B5-47F6-A335-BBEA6701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19D185-E453-4C2A-8FD6-F100360A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C568B8-FE9D-4652-8D0A-827DF33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Shared identity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88CF8F-142E-4CE1-ACF1-41D098BA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Users authenticate once and move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across modules instead of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encountering isolated module logins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or disconnected experiences.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EAE70B-A8E6-47CF-9384-8107445C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220598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9d3ea7d6d4c6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4A587-8F3C-45F4-82D7-7DDAE84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36356-E44F-418B-96C3-532C0DD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D1027-8D86-4AA3-B465-F1DB2C62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EAC1C-0128-4CF8-BE79-F7011CD8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B7DE0-D8DF-4AC3-A31A-E11A6286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74FA7-4B00-4430-B9DA-7DD54857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C70F5-03DF-4C08-BCBD-BD204F93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TECH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7CF7B-4A3D-432A-878D-FCD70BE3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04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7C680-EC7E-4CB2-9EC2-42A53D2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98E9C-46D0-481D-AC5A-7FF23CAD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B089A-EE9E-43FF-B9F1-71233B5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stack is modern and split cleanly by responsibility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719DF-F969-4C35-9DF2-782BB691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Frontend, application, database and cognitive concerns are separated clearly enough that each tier can evolve without turning the system into a monolith.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C09F5-AB71-4EA1-97D4-9FDF788D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3A4BA-AAEA-4FC5-91E8-699318F7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React + Vite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1E650-F142-4BDD-B408-63871032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796D8-94DC-4B43-8FF4-0902000D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Express + Prisma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0C17A-69DB-4528-B0E7-49D37776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D9C8F-88DA-423C-AC1C-95C7E67E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FastAPI + Ollama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62E35-9117-43CB-B11E-C05B7E6B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D16C0-A124-4970-8F63-5B35BC55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0B71A-021C-478C-ABE1-3BC3BE8B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992AE-04CF-4F19-9E2F-F61D1F70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BF684-91A3-4C2A-BD94-C4205481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0FDC6-973D-4E00-AC99-66D66D20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A3135-E450-4797-9157-6645431B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Frontend stack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ED9D6-6EB3-4007-9BDA-606A0832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Web uses React with Vite, React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Router, Ant Design and Tailwind.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Mobile uses Expo Router, React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Native 0.81.5 and React 19.1.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62086-0799-4E54-B272-67DCBB1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A2E15-A5EE-4368-AA3B-8D7ACCDF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F7144F-FCC7-469D-A4B7-DD29A43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D10170-4784-4A3E-8E36-E65F8D5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4B86A2-746D-4325-BAE2-4187718A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918006-2F68-48CD-A11B-EB2BD01D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E83E48-BAFD-4CB9-B7B0-258793BB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Backend stack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3D1B6-C17A-4270-8801-585D96BB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Server uses Express, Prisma, JWT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auth, cron services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module-oriented controllers over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PostgreSQL-backed operational data.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06A9F1-E7EB-44C4-914E-7D5D8197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9CD351-5AC1-438E-AE61-9FE56EDE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9338D2-9FC6-4519-B476-A8B3DC1F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082084-FDD5-4D10-BCDD-9A9E20DE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B76003-A13E-471E-BFCE-8902F32E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6F2D96-C254-49FD-B3CD-351E17C0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66F5E6-605B-4624-B519-77011C82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AI + runtime stack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7D2C65-7DED-446C-9DB8-61728C7A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Kelvin runs on FastAPI with RAG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hooks, local Ollama integration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Gemma 4 model discovery, while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Docker composes the local platform.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505490-547F-4603-87DC-4CFE3FD6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850762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aabc11ec148e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378A9-D230-4977-8038-377199D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576CB-61CC-4788-82D3-552D0162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59911-24BD-4E57-B03E-9C16AC54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26CB3-A040-49E9-B945-7EB4C49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A5F2F-B8DF-432D-B55F-B1143E59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9D686-D270-4EBB-8C7E-36F71B2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5C13D-7DDC-4A6D-9DC1-3CCEFC7F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SYSTEM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B5467-1352-4179-A582-05CBD7E1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05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41B85-388B-413E-BB8F-5EE7AF6A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71B9B-554B-4B79-9F5B-392E84FB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BA8B4-C9F3-44B0-9FFC-CDCA6C4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architecture separates user experience, orchestration and intelligence cleanly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CDAE6-C91B-46DF-834B-88D240C9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app behaves like one platform because routing, auth and data contracts remain centralized even though the runtimes are separated.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D6BE0-CEFC-4D32-8590-DA16623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394EE-52C8-4298-B77D-0F08B89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FE006-2C7D-48C4-A60B-0E2AA60B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9E7E2-7820-4300-8C2A-36F7C61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10714-A4F6-4650-9008-F7268D4B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59301-A6B2-4F42-883E-24A0EB3C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Shared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25B73-1C83-41AB-BAC4-38F4BCF2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96150-F5F8-4DD2-8493-664790DA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EFDB9-2ADD-4218-B845-0156E3C5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09B93-3D0F-484E-8176-D39AE3FB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D6C69-0EC0-4FE9-8CCA-ED468982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CDB48-B1F8-4D2D-81F6-F4FCCFAC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9D76B-B9B4-4334-83A9-8426D328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Experience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76902-9FDB-40EB-9F7F-01AA0FB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Web and mobile provide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task-specific shells for planners,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engineers, supervisors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technicians while preserving shared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navigation and auth logic.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F75C09-561D-4812-9C73-551282FB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231082-2C3A-4486-B765-CB4C5D95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2A1C74-5925-4B20-8D27-4C73CFD3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ED8FC2-50BE-4008-B1D8-45EAE1B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B7DFF-C9F6-46D8-B96F-9828A255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79271B-6965-4FAA-AC4B-3E9822CD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8C6CB0-4415-42AF-89CE-3E326056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Service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3069E3-8FFF-4EC0-B76B-63193021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Express route groups connect the UI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to module controllers for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procurement, work orders, manuals,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KPIs, inspections, contracts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more.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ED0D56-5DDA-47F1-87BC-79A3D117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0C7D64-0ED6-497E-9AFE-371E671A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5CD3DC-6E2D-4ACE-8EB5-ED5F0688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52C5A1-125B-439B-BC59-B42385FB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E17F72-8442-42F6-91E0-34666638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AA27AF-BD61-48C6-86A6-5CA80A89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F3383E-A833-40DA-9E07-8C888B70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Data layer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CCFD98-C843-4CAB-B7AE-5CE4D8A5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Prisma maps a large shared schema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so modules can read and write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same operational records instead of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fragmenting the plant data model.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C4A2D2-ADC8-4AF5-8E28-4FD738BD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373940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55174fe7e47d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DD909-607E-486D-863E-374FDEF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61C8B-D620-4B35-8A4A-E3A4E77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9A47C-F5DB-4D0D-AED1-8FEB3223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B0237-EA22-44D4-82F9-1945CC0D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02C5A-2F9F-4036-AAE1-50F04CFC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2973D-534D-4D63-821F-EAE96185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616EC-D323-440C-8E95-C3D34F6A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CODE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EB89F-B517-4E84-BEC2-C59DBE38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06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533B8-DD16-4012-97B0-9E6ABB13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6D4C0-D99A-415E-AA35-67F1B8D6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92D1A-89DD-46BE-9E1A-52F282C9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codebase is organized by product domain first, framework second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2C267-B79E-4F21-8963-F71AA24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That structure makes ownership understandable and supports modular growth, but it also exposes where refactoring and stronger testing discipline are needed.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4A9C9-9F2D-4AA9-B540-CA4B33E6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4427B-EA93-4F4E-AF8A-6AE55F1D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Module Folders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8545D-E34D-4BC7-A198-8B77EB60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9168B-6084-4CE8-A2B5-270229A7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Shared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D0DE7-A394-4B44-854F-697D7E7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3261C-F0E6-45CD-B061-1D74B058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Test Debt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31D84-D12B-4C40-BDBA-733C6F2D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E81AA-28FC-4E02-B042-2F622E52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CB2EF-D34A-4539-90E1-C97B1AE4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99906-724E-46BA-AD24-108FC78F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Web routes declared in the shell router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28A50-E8FB-487C-B94A-7FBF19E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client/src/App.tsx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18E20-8B32-44D7-BF02-5C570B6A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37164-416A-4291-88E3-C5108296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7F9AF-8319-4E27-A3F6-D3DE9AD3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BF134-281F-4D13-AF89-7EF0156B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Primary runtime trunks: web, server, mobile, cognitive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5DADF9-B2F0-4827-8E3D-D0BF38B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deploy/*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E981B-BF83-4C7D-9CCB-C087BFA3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627AE9-78CF-41CF-9F69-37AE776D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6817C5-928E-4AEF-ABAF-FFD45A67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44E4B5-303A-43A5-BEDC-7D909398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Committed automated test files in the repo today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4CF957-C586-4FA4-8BDF-E4A875C2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Jest configured but unused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52612-C8A0-458A-8426-20B9FDD2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774494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96553f5c740f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8E30B-D3A4-4E02-92A8-B0D6983F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54473-8ADB-4364-BEC3-01C1CBF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3A184-D360-4EEF-B95F-D2AD41E4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1FF56-651A-4D7D-8DAB-AEAB93CB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E94B9-E113-45ED-BF5A-3D540A6B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838C9-96E8-4821-9F2D-A00E828F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E24B5-3D4A-4BFD-BD08-81FB8B6F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EXPERT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340C6-7086-49E7-AA69-F2BE4C0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07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78FBD-7725-406C-BAD2-93BCD847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DABE6-9FA5-4BF7-9164-2ACC0434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7921F-C868-4C25-B68F-0C38AEDC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strongest engineering quality is breadth anchored to one data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1AC49-C11D-4772-A152-358B67FB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From a code review perspective, the best part of the system is that it solves many real maintenance workflows without splintering into disconnected tools.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558B6-46C9-4595-863A-384EACC4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E3585-B39E-4917-BA6E-92D6682E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Platform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8E082-FE24-4103-9050-A9E731D5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3BBE9-57D3-45DD-9750-8667B610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Shared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376BB-86DB-4658-A390-D9EA66D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2B16F-10AA-44F6-AD21-DF5672E1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Real Workflows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BC2D2-6CD5-48BA-846B-4267F0EF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D4C1D-01BD-4DD9-8541-60392F19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B3BA7-B6FC-474A-8721-36AB4423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9D6E9-52DB-44B0-AA9F-48F1CD90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B2723-B94F-4175-B417-DEBDC7E9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EAAD6-6F89-40BA-B7FD-2E713CA8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80328-B19C-4A6A-9F38-D8C01437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Strong platform shape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64AD02-C325-4EB4-A4EA-8CE60786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Web, mobile, backend and AI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surfaces are already separated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cleanly enough that the system can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scale by adding modules rather than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rewriting foundations.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ACD342-9F0E-4A31-A863-5489CBF0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FF92A2-3237-41F9-93A2-1540D0C0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0B43B-3921-44ED-9247-2235E304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4BB03-834C-4A12-AD72-55060048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9E983D-82D0-4F5D-82EB-D8A59B5E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5C81EB-AE47-4CAD-9ACE-CEF2E7BF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8E5D53-419E-4980-A915-489A244F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Shared operational core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B57C7D-6419-49D8-9F51-1381FE9F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Prisma model count and route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breadth indicate one central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maintenance data backbone rather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than many isolated micro-apps.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F6178B-09A5-45EC-811C-A8F9521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65DB2F-CAF3-48BC-88F4-2D9BA6EF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2052D6-DAB4-4E9C-B06E-A467893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C014AB-ED6C-424A-9225-D3E4B195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17C3E0-4479-479A-ABFF-DCE8FFE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E7E7E0-3BE8-4395-BDCD-C3974710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29B5C6-168D-44CB-9645-106EC8FD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Feature realism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A034F5-5B22-43D2-90BA-66A835FF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Work orders, procurement, manuals,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KPIs, inspections, collaboration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and energy make the app feel like a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real plant operations platform, not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 demo shell.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D9D3F4-7A29-41F5-8C49-A30DDA84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828871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10C72-66B2-4C08-B7FB-5449A2162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2288658f5442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8C46A-BDB0-476F-A1AF-5506120C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8D2DD-FC79-4C57-A0C1-52DCF9CA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5E13C-39C7-489C-9E04-158F7E28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FE7EF-31EA-431D-9DBF-C798EFB2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6E0EC-848F-4913-B60B-B4726E1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A454A-82F6-4921-B4B8-A45DE83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1D4A5-6948-4DDF-8163-298AB341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CODE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36C81-6A7D-41D0-89FD-59D984E7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08 / 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FBD41-29B1-4297-B400-75F67408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98F9F-1804-4098-816C-30A7E76B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D4B04-161E-4F69-BF43-9B3BA370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main code review concerns are authorization, migrations and test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0B8B0-9126-41F4-8C7A-8AED517E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highest-signal risks are not visual polish. They are permission correctness, deployable schema evolution and the lack of automated regression coverage.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535E6-E2B6-4628-B602-4AA80A36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ED145-69AC-4EE1-83A3-29FA47B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893D5-041E-494D-B6F3-79F383B0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477E4-7FEB-4F4A-8E30-F6F7320F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Migrations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FACD2-62D2-4E59-850D-748AA904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F061A-F23D-457E-91A5-6E582EE5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Regression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0EFDA-07EB-4200-BB1B-993710B5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52F0B-BF61-4A7F-9083-223EEFA0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14DB1-7EC7-4EC8-A99B-F6495D4A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E561B-FBB5-410D-B7B5-B1C94F4F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68D26-732F-4DBF-891B-9F3B507D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5EC0B-00B2-4B64-927E-03A577F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93305-9E08-4EBD-B429-6EDE34A8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Finding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99D47-3194-4020-A8DC-FDB7624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user permission API must keep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returning and updating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canCreateWorkOrder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canCloseWorkOrder because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manpower UI still depends on those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switches.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059109-5FF4-4A92-B2A7-33A7F85E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58912-522D-4180-BF0C-0B284389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17989D-5CC6-43BE-AF9F-5266624E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EBBC0-A1A8-44B0-B7F7-35B804F6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9675D6-F51C-44D0-89BA-6824057E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3364C3-70BD-48A9-863F-AD5E3FB3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0F4184-0D1F-4E5D-B69C-E93CA968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Finding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2F9F71-80E0-42B3-9642-0F7C7EA6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Every new Prisma table needs a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checked-in migration because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documented deploy flow relies on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prisma migrate deploy and will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otherwise fail at runtime.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9C0CC6-944A-49B5-8AA4-863896F9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AD5745-4026-4859-A8BA-6DCF55D1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6DA50-476E-4165-A82C-62713E14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3BCC8A-A0B7-4C78-9DD3-360699A1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ADD5C9-06C1-402D-81CE-FE8C0128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01A6E2-CACB-4D8C-B247-93E75A68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794195-48B6-4D93-A0C2-6F11FE40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Action plan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818D5D-6F72-4B09-92B1-D2CB7E3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Add canary tests, tighten API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typing, keep auth universal across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modules, and continue splitting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largest screens and route handlers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into smaller units.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742A42-B456-4149-9070-A51B7B78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134355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2026-04-20T17:04:38.7820000Z</dcterms:created>
  <dcterms:modified xsi:type="dcterms:W3CDTF">2026-04-20T17:04:38.7820000Z</dcterms:modified>
</coreProperties>
</file>