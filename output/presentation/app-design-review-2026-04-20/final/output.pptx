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4b57a21714b76" /><Relationship Type="http://schemas.openxmlformats.org/officeDocument/2006/relationships/extended-properties" Target="/docProps/app.xml" Id="R62ee56780a744d44" /><Relationship Type="http://schemas.openxmlformats.org/officeDocument/2006/relationships/officeDocument" Target="/ppt/presentation.xml" Id="Rd2338d47a76140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d6c283456a4825"/>
  </p:sldMasterIdLst>
  <p:notesMasterIdLst>
    <p:notesMasterId xmlns:r="http://schemas.openxmlformats.org/officeDocument/2006/relationships" r:id="R06dad021d5a64fd4"/>
  </p:notesMasterIdLst>
  <p:sldIdLst>
    <p:sldId xmlns:r="http://schemas.openxmlformats.org/officeDocument/2006/relationships" id="256" r:id="R78ee4a501e794921"/>
    <p:sldId xmlns:r="http://schemas.openxmlformats.org/officeDocument/2006/relationships" id="257" r:id="Rb3646b335fea4a93"/>
    <p:sldId xmlns:r="http://schemas.openxmlformats.org/officeDocument/2006/relationships" id="258" r:id="Rebe651b5fe6041fd"/>
    <p:sldId xmlns:r="http://schemas.openxmlformats.org/officeDocument/2006/relationships" id="259" r:id="R6aad9ba66bf24874"/>
    <p:sldId xmlns:r="http://schemas.openxmlformats.org/officeDocument/2006/relationships" id="260" r:id="R31b0e43d81ee4d62"/>
    <p:sldId xmlns:r="http://schemas.openxmlformats.org/officeDocument/2006/relationships" id="261" r:id="R6e8f477eb6894669"/>
    <p:sldId xmlns:r="http://schemas.openxmlformats.org/officeDocument/2006/relationships" id="262" r:id="R577d5bc7023241a7"/>
    <p:sldId xmlns:r="http://schemas.openxmlformats.org/officeDocument/2006/relationships" id="263" r:id="R3e3371951c2843a1"/>
    <p:sldId xmlns:r="http://schemas.openxmlformats.org/officeDocument/2006/relationships" id="264" r:id="Rbad05b0370ed42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6c283456a4825" /><Relationship Type="http://schemas.openxmlformats.org/officeDocument/2006/relationships/theme" Target="/ppt/theme/theme1.xml" Id="Reca647bcee1b431c" /><Relationship Type="http://schemas.openxmlformats.org/officeDocument/2006/relationships/notesMaster" Target="/ppt/notesMasters/notesMaster1.xml" Id="R06dad021d5a64fd4" /><Relationship Type="http://schemas.openxmlformats.org/officeDocument/2006/relationships/presProps" Target="/ppt/presProps.xml" Id="Ra5266435141e4cc0" /><Relationship Type="http://schemas.openxmlformats.org/officeDocument/2006/relationships/viewProps" Target="/ppt/viewProps.xml" Id="R84a8efa27f9849c0" /><Relationship Type="http://schemas.openxmlformats.org/officeDocument/2006/relationships/tableStyles" Target="/ppt/tableStyles.xml" Id="Rff3d7418528c4fbb" /><Relationship Type="http://schemas.openxmlformats.org/officeDocument/2006/relationships/slide" Target="/ppt/slides/slide1.xml" Id="R78ee4a501e794921" /><Relationship Type="http://schemas.openxmlformats.org/officeDocument/2006/relationships/slide" Target="/ppt/slides/slide2.xml" Id="Rb3646b335fea4a93" /><Relationship Type="http://schemas.openxmlformats.org/officeDocument/2006/relationships/slide" Target="/ppt/slides/slide3.xml" Id="Rebe651b5fe6041fd" /><Relationship Type="http://schemas.openxmlformats.org/officeDocument/2006/relationships/slide" Target="/ppt/slides/slide4.xml" Id="R6aad9ba66bf24874" /><Relationship Type="http://schemas.openxmlformats.org/officeDocument/2006/relationships/slide" Target="/ppt/slides/slide5.xml" Id="R31b0e43d81ee4d62" /><Relationship Type="http://schemas.openxmlformats.org/officeDocument/2006/relationships/slide" Target="/ppt/slides/slide6.xml" Id="R6e8f477eb6894669" /><Relationship Type="http://schemas.openxmlformats.org/officeDocument/2006/relationships/slide" Target="/ppt/slides/slide7.xml" Id="R577d5bc7023241a7" /><Relationship Type="http://schemas.openxmlformats.org/officeDocument/2006/relationships/slide" Target="/ppt/slides/slide8.xml" Id="R3e3371951c2843a1" /><Relationship Type="http://schemas.openxmlformats.org/officeDocument/2006/relationships/slide" Target="/ppt/slides/slide9.xml" Id="Rbad05b0370ed42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2cc23a76ea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ea0e5502624265" /><Relationship Type="http://schemas.openxmlformats.org/officeDocument/2006/relationships/notesMaster" Target="/ppt/notesMasters/notesMaster1.xml" Id="R9ed67249ed2f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d9e28f93a74efb" /><Relationship Type="http://schemas.openxmlformats.org/officeDocument/2006/relationships/notesMaster" Target="/ppt/notesMasters/notesMaster1.xml" Id="Rc353810af629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5d5f455e7c47c4" /><Relationship Type="http://schemas.openxmlformats.org/officeDocument/2006/relationships/notesMaster" Target="/ppt/notesMasters/notesMaster1.xml" Id="R28aa95340e834f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19bb4a2abb4939" /><Relationship Type="http://schemas.openxmlformats.org/officeDocument/2006/relationships/notesMaster" Target="/ppt/notesMasters/notesMaster1.xml" Id="R972ba2dd862f4f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0da54de43480f" /><Relationship Type="http://schemas.openxmlformats.org/officeDocument/2006/relationships/notesMaster" Target="/ppt/notesMasters/notesMaster1.xml" Id="R4a189d8b155f46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d788c7ea034c32" /><Relationship Type="http://schemas.openxmlformats.org/officeDocument/2006/relationships/notesMaster" Target="/ppt/notesMasters/notesMaster1.xml" Id="Rf4c3c0781af6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079bfc9d1342bd" /><Relationship Type="http://schemas.openxmlformats.org/officeDocument/2006/relationships/notesMaster" Target="/ppt/notesMasters/notesMaster1.xml" Id="Rc9e17294da264f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4ea9ffa7c4d46" /><Relationship Type="http://schemas.openxmlformats.org/officeDocument/2006/relationships/notesMaster" Target="/ppt/notesMasters/notesMaster1.xml" Id="R55854ac2f85440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c1e37e27f241d6" /><Relationship Type="http://schemas.openxmlformats.org/officeDocument/2006/relationships/notesMaster" Target="/ppt/notesMasters/notesMaster1.xml" Id="Rf3883a4d091846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app as a unified operating system for maintenance, not a single dashboard. Emphasize shared identity, shared data, and multiple work surfaces.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deploy/client/src/App.tsx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deploy/server/prisma/schema.prisma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numbers to establish breadth. The main point is that the system is already broad enough to support multiple user types and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deploy/server/prisma/schema.prisma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product design philosophy: keep navigation thin, push users quickly into domain modules, and make auth global rather than module-local.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deploy/client/src/App.tsx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deploy/client/src/modules/procurement/pages/DashboardPage.tsx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mobile shell to the broader system. Kelvin should be positioned as an assistant over the same modules rather than an isolated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deploy/mobile/app/(tabs)/index.tsx</a:t>
            </a:r>
          </a:p>
          <a:p xmlns:a="http://schemas.openxmlformats.org/drawingml/2006/main">
            <a:r>
              <a:t>- deploy/mobile/package.json</a:t>
            </a:r>
          </a:p>
          <a:p xmlns:a="http://schemas.openxmlformats.org/drawingml/2006/main">
            <a:r>
              <a:t>- deploy/client/src/modules/cognitive/ChatInterface.tsx</a:t>
            </a:r>
          </a:p>
          <a:p xmlns:a="http://schemas.openxmlformats.org/drawingml/2006/main">
            <a:r>
              <a:t>- deploy/cognitive/main.py</a:t>
            </a:r>
          </a:p>
          <a:p xmlns:a="http://schemas.openxmlformats.org/drawingml/2006/main">
            <a:r>
              <a:t>- deploy/cognitive/llm_service.py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crisp. The key architectural message is controlled separation: multiple runtimes, one coherent platform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deploy/cognitive/main.py</a:t>
            </a:r>
          </a:p>
          <a:p xmlns:a="http://schemas.openxmlformats.org/drawingml/2006/main">
            <a:r>
              <a:t>- deploy/cognitive/llm_service.py</a:t>
            </a:r>
          </a:p>
          <a:p xmlns:a="http://schemas.openxmlformats.org/drawingml/2006/main">
            <a:r>
              <a:t>- deploy/server/prisma/schema.prisma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balances praise with review pressure. The foldering is understandable, but testing and some screen sizes need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deploy/client/src/App.tsx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deploy/mobile/package.json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functional value slide. Stress the range of enterprise workflows already present in the same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deploy/client/src/modules/core/pages/EnterpriseHub.tsx</a:t>
            </a:r>
          </a:p>
          <a:p xmlns:a="http://schemas.openxmlformats.org/drawingml/2006/main">
            <a:r>
              <a:t>- deploy/client/src/modules/procurement/pages/DashboardPage.tsx</a:t>
            </a:r>
          </a:p>
          <a:p xmlns:a="http://schemas.openxmlformats.org/drawingml/2006/main">
            <a:r>
              <a:t>- deploy/client/src/modules/cognitive/ChatInterface.tsx</a:t>
            </a:r>
          </a:p>
          <a:p xmlns:a="http://schemas.openxmlformats.org/drawingml/2006/main">
            <a:r>
              <a:t>- deploy/server/src/index.ts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Anchor this slide in the two concrete review findings, then broaden into the next risk areas: tests, typing, and server-side authorization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deploy/server/src/controllers/authController.ts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deploy/server/src/index.ts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connecting the architecture to the planned contractor mini-app. Same data model, different shell, server-enforced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deploy/server/prisma/schema.prisma</a:t>
            </a:r>
          </a:p>
          <a:p xmlns:a="http://schemas.openxmlformats.org/drawingml/2006/main">
            <a:r>
              <a:t>- deploy/server/src/controllers/authController.ts</a:t>
            </a:r>
          </a:p>
          <a:p xmlns:a="http://schemas.openxmlformats.org/drawingml/2006/main">
            <a:r>
              <a:t>- deploy/server/src/index.ts</a:t>
            </a:r>
          </a:p>
          <a:p xmlns:a="http://schemas.openxmlformats.org/drawingml/2006/main">
            <a:r>
              <a:t>- deploy/cognitive/llm_service.py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aacd4f0d64fd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5F1E5BEE-C5F3-4A24-98D7-400C9E6DFBF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B441D3-35DE-4E54-94EB-154377E677F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551F59-AB11-4796-9FF4-1D2D5762EAE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8CA485-4E11-4972-89E6-9BBBE3CBF0E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e0d4264aa6402a" /><Relationship Type="http://schemas.openxmlformats.org/officeDocument/2006/relationships/slideLayout" Target="/ppt/slideLayouts/slideLayout2.xml" Id="R82de4e419d69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154FDD-9C0D-47BC-AA2E-A33580D2159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e4e419d69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59a7e59b24ecb" /><Relationship Type="http://schemas.openxmlformats.org/officeDocument/2006/relationships/image" Target="/ppt/media/image.png" Id="Rd1c3d20e32504b70" /><Relationship Type="http://schemas.openxmlformats.org/officeDocument/2006/relationships/image" Target="/ppt/media/image.jpeg" Id="R22a5464f76474008" /><Relationship Type="http://schemas.openxmlformats.org/officeDocument/2006/relationships/notesSlide" Target="/ppt/notesSlides/notesSlide1.xml" Id="R1f1594f0dbd348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227d51214d46c2" /><Relationship Type="http://schemas.openxmlformats.org/officeDocument/2006/relationships/image" Target="/ppt/media/image2.png" Id="R120c7d1a488e4e52" /><Relationship Type="http://schemas.openxmlformats.org/officeDocument/2006/relationships/notesSlide" Target="/ppt/notesSlides/notesSlide2.xml" Id="Rd08a4cbcdee6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c1006861f142dc" /><Relationship Type="http://schemas.openxmlformats.org/officeDocument/2006/relationships/image" Target="/ppt/media/image3.png" Id="R705903c0b4d741f4" /><Relationship Type="http://schemas.openxmlformats.org/officeDocument/2006/relationships/notesSlide" Target="/ppt/notesSlides/notesSlide3.xml" Id="Rddb8ea552a1943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f2969de774c64" /><Relationship Type="http://schemas.openxmlformats.org/officeDocument/2006/relationships/image" Target="/ppt/media/image4.png" Id="R0237af9159984348" /><Relationship Type="http://schemas.openxmlformats.org/officeDocument/2006/relationships/image" Target="/ppt/media/image5.png" Id="R4e547cc24f1b4226" /><Relationship Type="http://schemas.openxmlformats.org/officeDocument/2006/relationships/notesSlide" Target="/ppt/notesSlides/notesSlide4.xml" Id="Raf068c78134f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d298dfb4ec40a2" /><Relationship Type="http://schemas.openxmlformats.org/officeDocument/2006/relationships/image" Target="/ppt/media/image6.png" Id="Rd727f6bcd33042ed" /><Relationship Type="http://schemas.openxmlformats.org/officeDocument/2006/relationships/notesSlide" Target="/ppt/notesSlides/notesSlide5.xml" Id="R66da7832975940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6c21f5aa94694" /><Relationship Type="http://schemas.openxmlformats.org/officeDocument/2006/relationships/image" Target="/ppt/media/image7.png" Id="R614204e988184c76" /><Relationship Type="http://schemas.openxmlformats.org/officeDocument/2006/relationships/notesSlide" Target="/ppt/notesSlides/notesSlide6.xml" Id="Rc5af07d682ca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fcfc4728c4c9f" /><Relationship Type="http://schemas.openxmlformats.org/officeDocument/2006/relationships/image" Target="/ppt/media/image8.png" Id="Rc7a0ac01804d4c16" /><Relationship Type="http://schemas.openxmlformats.org/officeDocument/2006/relationships/notesSlide" Target="/ppt/notesSlides/notesSlide7.xml" Id="R065c28d9f02d46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d66d6171a4543" /><Relationship Type="http://schemas.openxmlformats.org/officeDocument/2006/relationships/image" Target="/ppt/media/image9.png" Id="Rac50d6640c4f4d72" /><Relationship Type="http://schemas.openxmlformats.org/officeDocument/2006/relationships/notesSlide" Target="/ppt/notesSlides/notesSlide8.xml" Id="Rf11a2757323846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6524d01784699" /><Relationship Type="http://schemas.openxmlformats.org/officeDocument/2006/relationships/image" Target="/ppt/media/image10.png" Id="R2809ae1a49004654" /><Relationship Type="http://schemas.openxmlformats.org/officeDocument/2006/relationships/notesSlide" Target="/ppt/notesSlides/notesSlide9.xml" Id="R5dd17a6897ef42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3d20e32504b7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EFD20-3D94-4630-8AA4-B16AF7B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5C15A-D760-497A-A897-2C8CEE50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3FCF0-FA5E-4C57-A491-73CBD8D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D13F3-9C86-468A-90F8-D1B7CCAE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C6A5E-5CF3-4A9D-B22A-10F01235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55B3C-362D-4359-AD8B-203805E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E7FDA-D8AC-40C9-8BCB-1AA79D4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62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B79E0-F27A-4EDD-AF80-4C7D3010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333750" cy="41148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B4488-F6A6-4A43-8731-49353AE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05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5464f76474008"/>
          <a:stretch xmlns:a="http://schemas.openxmlformats.org/drawingml/2006/main"/>
        </p:blipFill>
        <p:spPr>
          <a:xfrm xmlns:a="http://schemas.openxmlformats.org/drawingml/2006/main">
            <a:off x="9707146" y="704850"/>
            <a:ext cx="816807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D2F92-01E3-4DB6-97D8-730A4FB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APP DESIGN +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12FD0-5C29-4A5E-978B-0051159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Maintenance Management System</a:t>
            </a:r>
          </a:p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Architecture &amp; Code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AC83E-467A-4341-91C2-5F7D3CBE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Design, module UX, code structure and review snapshot for ONGC Ankleshwar Asset across the web console, Expo mobile app, backend services and Kelvin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43B0B-C3F0-4EE2-B918-91414635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101EC-5702-4D06-9A15-75A756C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335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F62"/>
                </a:solidFill>
              </a:defRPr>
            </a:pPr>
            <a:r>
              <a:rPr sz="1050" b="1">
                <a:solidFill>
                  <a:srgbClr val="0B5F62"/>
                </a:solidFill>
              </a:rPr>
              <a:t>Web Console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30745-B648-4DBE-A74C-B3533FBB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29 routes, role-aware hub, dense specialist modules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6AE1E-B7C7-4E22-8BE6-1F8D2026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B410B-DDB3-4D6D-A76F-57C84FCC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F62"/>
                </a:solidFill>
              </a:defRPr>
            </a:pPr>
            <a:r>
              <a:rPr sz="1050" b="1">
                <a:solidFill>
                  <a:srgbClr val="0B5F62"/>
                </a:solidFill>
              </a:rPr>
              <a:t>Mobile Field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C0415-3C90-476C-9E33-B5DC9C0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Expo Router shell with KPI strip, health watch and module cards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4EA74-0C07-43C0-BFC5-0ACB799E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214B2-D0EF-4D83-837A-7353C8F5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F62"/>
                </a:solidFill>
              </a:defRPr>
            </a:pPr>
            <a:r>
              <a:rPr sz="1050" b="1">
                <a:solidFill>
                  <a:srgbClr val="0B5F62"/>
                </a:solidFill>
              </a:rPr>
              <a:t>Kelvin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B1CEB-CA0C-4B11-AA10-2DFEAC8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FastAPI RAG service with local Ollama and Gemma 4 model discovery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B3C89-61A3-4B16-AE1C-3A578446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33497-1BE7-48AD-9272-76BA478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One platform, 18 operational modules, shared data 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D6052-F3F3-4CD5-A3B3-D9EF6F3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78304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c7d1a488e4e5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FBB1F-859D-4BCE-92FA-0E3B0BC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6C80-B6E8-4823-A36C-D0798998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85866-3FF1-494A-8767-808B1DAF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E6240-0781-4169-B0E6-7A8C4275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73994-ABFE-4551-916D-A1D0A36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5F3A4-FB65-428E-A25F-9C16D52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8A872-E73D-436E-8464-C386AB4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PLATFORM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C29BC-115E-4A2C-A7F6-D006D59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02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2740E-1C5D-44F4-AAE6-B46E731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252E9-5671-4E02-8E63-71BE417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E4970-74E4-4313-8ACD-BFF92DA8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product already behaves like an integrated operations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ECC0E-2881-404F-96F1-2C4F59BE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codebase spans planning, execution, reliability, documents, collaboration, and AI assistance with one operational data backbone.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E88CC-1525-42F8-9190-3771FA67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5A350-BB0A-4D50-AF7E-DD66416F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Web Console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E0B37-F72A-4B8D-B0D4-D68D87BF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7A77E-4E4E-4F55-874E-D32F476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Expo Mobile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923A8-1CE0-416C-9AFE-3C995472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681ED-F984-4406-BF93-8B0CCAC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Shared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34EBE-FADB-4AA4-85E1-879AA8FA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A9E16-4276-4DD1-8E35-255920B9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99581-EC6C-41DC-97EB-8F1DEEE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7B89D-4561-4049-B30E-3F1F4882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Role-aware web modules on the enterprise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010E9-FAC7-4F7D-904A-B8FFF1B7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EnterpriseHub.tsx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DBB57-747A-4AF1-9332-44381DF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10A71-E1E5-4C36-96DC-450AB94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50F67-1FDF-4D80-B832-23DFC8CE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2A4BE-9224-4C07-88FD-F576641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Mounted API route groups in Express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6A954-B900-4C38-8789-B9512D5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server/src/index.ts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275EAA-0A11-43E2-9D8D-550A30A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EC009-2974-4A91-AA86-85533FAF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6A426-5E51-4721-8B4C-9209B0F1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7C295D-F874-4A37-91BD-16DE100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Prisma models in the shared schema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791A2C-9DB9-4DC2-BBB1-941F2EC0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server/prisma/schema.prisma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640C21-D68D-4F64-B285-12D78BE7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2107948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903c0b4d741f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A5EB0-1B47-4A8E-8C33-D9B393CE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6A90A-25A4-4A06-A625-7A8EB664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649B7-CA51-4D0B-A967-FF0098A2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5EA5B-3733-4B7A-B2F7-A57DD33F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2C917-57BB-4B01-AA22-77E41887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FD777-3687-492A-9C4E-96CD64E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900E3-17CE-4275-908C-237A3BBC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DESIGN SHELL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2350-A26D-405F-8B79-6008ACC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03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64093-4E2E-40E7-831B-86CD483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88DDE-D060-48EE-806E-EA03AA1F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E12B6-1A94-453F-8BC3-6BD80001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experience is built around a universal login and module-first navigation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60644-8A5C-4D41-A0CA-1E28D271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Users land on a role-filtered hub, move directly into specialist workflows, and keep one session across procurement, manuals, KPIs, work orders, and inspections.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545C1-66C5-47DB-9DFF-68772AF8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4CF3C-D7D3-47F1-8C43-5C2286F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RBAC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3F1A5-84DC-4D55-90B9-C62087C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BBE05-056F-46DD-9424-336E8DB5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Universal Login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B3AD1-157B-44EF-A35C-57A9A85B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FFF6A-EFB3-4A9B-82A9-73CB19C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Module Hubs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2AD9E-77D3-4A1F-96CB-D1CA9398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409DD-ABF4-40E0-BE0C-7FF5F7C0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FE253-E2DE-487A-BE62-2D5DB37B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9F34B-D665-4D17-BF84-FAA31AC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897FC-BC4E-4242-B83C-AAF6AA1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D8A92-E402-4B90-A417-4BB62219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5EDA30-7FA9-4F50-B51F-8A3AC68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Role-based hub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3E9A2-D616-4B90-AEA9-96604D7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Web home exposes 18 apps and trims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visibility by role so technicians,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supervisors and admins see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different operational surfaces.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90E714-57AF-43F2-8293-5FDD2BF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C8A8A-922A-4BFB-9574-5385EEFA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31D82A-A34A-44B4-8073-1FCEC27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2C2911-5891-4D79-97CA-77E71FA1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B20F9-615D-4E27-BEE8-C6D4E0E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B85758-E397-40D3-8181-97A1B5A5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C4EBD-59FF-4F7E-BA92-FFD8A1E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Universal auth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3474A-DCFD-43F9-8DEC-8F3D01E7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ProtectedRoute, PublicRoute and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shared AuthContext now govern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whole shell so modules no longer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bounce users back to login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mid-flow.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326D6-C088-4278-A832-1D65880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44D4AA-8E4F-46CA-8596-20E7269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6AE531-4C0A-40A9-8402-A1773470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EEC60D-8D22-419D-8882-45AC28B6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9273C8-3774-47AF-AE5C-80B4C00E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E1B6E-CE39-4440-9DE5-6C86C1D4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A06E08-3ED2-49E2-B76D-8F0AA1B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Focused layouts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F28197-B3F7-40C9-8A2E-66E53B3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Procurement, manuals, contracts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work orders each own dense task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views instead of forcing every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workflow into one generic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dashboard.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4D6DDF-1E0D-4149-A418-BD6A2382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229170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7af915998434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59405-2E9D-456C-8114-B14DB7C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83B25-CBD6-49CF-84B5-5FE75C1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9D013-7FF0-401E-BEFE-8B56483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9B1D2-2C3E-4CDA-B97F-C7ECAA7D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39998-031A-4CAD-938A-7EED3D71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AC31A-6702-4089-8E0E-107921ED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F75B4-566F-4F18-BC7B-D0D8DE57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MOBILE +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11827-3D0F-4AF0-A4EF-ABBB0EF1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04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A33C9-669A-4B2C-96BA-153C1CC5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F6AB7-F4EC-49BB-8C29-9AB5A0D9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DD87C-D5AD-45CF-BD8C-9D5CAC7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mobile shell mirrors field work, while Kelvin adds cross-module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AB41B-8A3C-4C24-AABD-308960AA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Expo Router turns the phone app into a field cockpit with KPI strips, health watch, module cards and a floating AI assistant linked to local Gemma 4 models.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1F7F5-1229-448C-8EEA-785AE17B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65B15-F4FD-4C1B-9FAD-C5B8603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Expo 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F6E47-2E67-439A-BB21-57F78C79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1FF49-FA06-4BAA-854C-9E15B444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Secure 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08502-9309-4F4C-9D4A-D5984B8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B3526-6DF3-4B42-B819-3A8BB14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Gemma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80605-4F6F-451C-B7E6-3D87A05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435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47cc24f1b4226"/>
          <a:stretch xmlns:a="http://schemas.openxmlformats.org/drawingml/2006/main"/>
        </p:blipFill>
        <p:spPr>
          <a:xfrm xmlns:a="http://schemas.openxmlformats.org/drawingml/2006/main">
            <a:off x="10601325" y="52482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F6CFB-8571-4761-AEA0-2DDD8F36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82806-AB79-4CD2-B614-D0B7D156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68027-3779-491A-94F2-EA357683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F20B3B-D9B5-45C3-8910-6D7FE1E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AB08E-9558-49CC-86C5-3ED28F25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0510BB-390E-4211-A434-945E28DF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2735F8-76B1-497C-A8FD-5148A462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Field cockpit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8E73D-3F34-44F1-90D0-01E36723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mobile home screen surfaces KPI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summary, health watch and module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shortcuts for operations, planning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and admin tasks.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EB8CA-76CE-4706-AB2C-6E11314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4EEF3-F909-465E-9738-665B3B3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22477-9BC1-4C63-A0A0-50EA1F3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464C7-3C39-40D7-9131-EE0FEBC8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267631-4CEB-4DC4-9366-177B656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A7A2D-4630-466D-A046-16DB651B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34C88D-237E-4BA9-8BBB-5D4876B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Shared permissions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FE660-58D0-480F-9697-F8761631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Mobile auth uses secure storage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same token model, so the same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workforce can move between browser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and handset without separate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identities.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6B8163-B6FF-4873-9BD7-50BC5A97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96A63D-2C44-4406-83AF-4C99DE0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E031FB-4378-4D2E-8F06-9DDAD3B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43AA7E-863D-43FB-982F-B84BA4F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9BD80F-31A9-43DB-B9BC-0E67F563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7CFED9-A8E0-4651-A6A1-7F2753C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142447-C914-496E-B6C5-4395904B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Kelvin AI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6FDFAA-B92D-47CD-89FA-E384B0FE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cognitive service exposes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rule-based and LLM-backed chat,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model discovery, RAG context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building and local Gemma 4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selection.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8AA823-8BBF-4AD7-9DE6-CBF95B59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549434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7f6bcd33042e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34DD0-9F07-4DA3-8718-2B1FF97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D6D5C-E80C-4421-9E4E-38C7A189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EA10E-7BCC-40F3-ABBA-31259558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75BA2-6D45-4798-A471-E295B50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E8129-7627-4A32-A4A4-9217465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ADA0D-75EA-479D-ACFB-3789257F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A69A9-2479-476C-AC52-360D01FC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AEDD3-63A6-435A-B4BE-21427A7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05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CF0CA-AFDC-4D58-80A9-B681D413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2561D-FBE4-4C86-8003-ED12991C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B48D2-D1D9-4913-826E-BA27859E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architecture separates presentation, orchestration and intelligence cleanly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885A-0F1C-414F-869D-97A2A7F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Each layer is independently deployable, but the app still behaves like one platform because routing, auth and data contracts stay centralized.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375C0-9C4A-48E1-BCEF-08F647C0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91E1D-5F23-4B9E-9B35-F0D152B3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React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9CF69-C26D-4DA0-9B7F-66621D5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05D27-A8A2-4229-ADDB-BFF33FFC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Express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FF67F-0703-43B8-81CD-AB3001FC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0E021-F595-4BDA-B4D0-B04670CA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3562C-A337-4EF0-881A-575847B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41FA2-BFD4-47C4-96C8-56E6C557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F918F-9767-41BF-98BE-70E86500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D207C-77A7-4AC3-9C7C-1048B4C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2AA36-8EF5-4DF2-BD54-0702A1AB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AFF9B-97C0-4B3F-8AF3-7C62C5A8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6E758-A3D3-4C22-8D8F-4BEAF82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Presentation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4B8C3-59C3-42C7-80B0-CDB615F7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Vite React web and Expo React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Native provide task-specific shells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for control room and field use,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both speaking HTTP APIs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surfacing role-aware modules.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355D56-82A3-4F43-BFC3-368CC8F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E98DD-5F41-4239-B450-E3E96C7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A232D-97F3-4109-AC70-CE0FC3D5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84A09-51E4-4C2E-A2BC-AFDBD41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0F125-8F52-4679-8BAB-859981BA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5425A-723F-4220-8D25-DF4395B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412CD-1AB1-43CB-8BC6-CAF2305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Application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77D12-8B37-42CC-A1BF-80F5F2BE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Express mounts 31 route groups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uses Prisma, JWT auth, cron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services, document storage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module-specific controllers to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orchestrate work.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5E477-FC5B-45C2-AE2D-43D91CB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BF2539-9E1F-4ED9-9F3B-EE32324D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F23B7D-F0E0-442D-9F96-156390E9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AC17A5-BFDA-481E-B00A-2D45F57C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52EF96-69A5-448A-BFAE-9A0B5047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303588-30C6-44BC-812C-B9A77609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E38DF4-0570-4328-BC54-A30E9A15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Data + intelligence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DF06A1-CE33-4F6E-B4A1-1268F413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PostgreSQL holds the operational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truth, Redis supports runtime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services, and FastAPI-based Kelvin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adds RAG plus local Ollama model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execution.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3E237E-45D1-486E-B464-7F5B6C3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59365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204e988184c7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AC1EA-D48E-4CAF-AFDF-212DFF17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57CA0-30A2-4331-B735-F00B73D3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96BDB-6892-4783-AB1C-A3797BB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D6BE3-8991-433E-9B7B-712DB1B6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F35BA-2AF0-417D-AD55-732D2F66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932D7-28B4-4164-AADE-547C53FA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BFE71-AB4C-4831-AF1C-681D328C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CODE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AD1C5-8C67-420C-BAD9-A6254D81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06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132C7-E8A8-4F8C-B843-255EB33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4DB14-1E86-48D4-A1D4-FCA2D24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37669-10F7-4EEC-B5D3-3513997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code is organized by product surface rather than only by framework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45FE8-E468-4D11-8435-07495B16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That makes module ownership easy to reason about, but it also reveals where large screens and thin service wrappers need refactoring.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C2408-5DC3-471C-A19C-E675C51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71689-F461-4830-95EE-3D5B5C96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Module Folders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B22D4-244B-413D-9D9C-27F2D00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86DCB-6207-4652-B372-7BE10B9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Prisma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649B5-368D-406D-B62E-2A4E6E1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EA213-FD20-4494-AC7E-C44625F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Testing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DEF99-56AB-4A64-8062-62B1AD9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5D6B9-B199-4DB7-AFF8-FB42EFC6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1DE40-78DE-4466-8607-5C544C32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7EEF8-73BB-4D89-A076-3CBE7121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Web routes wired through client App.tsx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47625-B987-462C-9CEF-E4CE4459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client/src/App.tsx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0DC4F-67A6-4EF3-A687-64484341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4ADD8-56B4-434C-B962-03B19AD8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215CF-BAA3-482A-AAB5-851B5AE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041EA-68BB-47AE-9333-029692B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Primary runtime trunks: web, server, mobile, cognitive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F2612-36D3-4598-8465-0CCA01B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deploy/*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28AEA-5E0B-4891-BCF0-2678BA7E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6C2571-BF04-4C2F-B59A-56C7877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52ADE-5B06-496C-A735-C479377E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F5FE4-A253-48D8-A856-91F6170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Checked-in automated test files today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CEF2D4-05FB-43C4-BE47-B23A1864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Jest configured but unused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B98555-7CF5-4E74-A449-0272264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923220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0ac01804d4c1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10E1F-333D-4C2B-8255-729D43F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81A37-7C02-4CAD-BF68-00914DB6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01CE0-D569-4130-B7A5-B9D6D6A3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02A5A-25B8-45CF-B07C-524DFB4C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26572-2681-4E40-9F0C-C6F1C249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F53EF-85B0-4EF6-A892-34E4D6AF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70279-BA71-4948-8319-7C381602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SALIENT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BB90D-BA1D-49C6-88E6-96DDE752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07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F5DB4-4BB0-4EB2-8812-15C64CA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98F7A-758A-4238-866D-16B9A19A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B6A36-DAE4-4604-9F2F-C7CEB71E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Operational depth is the standout quality of the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DC14F-CD1D-4F91-BF2C-B344DFED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This is not a toy dashboard. The platform already covers the workflows a plant team actually needs across maintenance, documents, analytics and planning.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32F19-03C3-4450-A0A7-63D22D0F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84076-8CE9-4407-A572-5C9C69C6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B7DCA-75F5-4FB8-A0FD-9C7F455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FB6CF-E52A-4188-8BEA-45E5051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2A1B1-53AD-4886-8560-ED29A30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5BFC6-6BBB-4D01-A6CF-C34D0B78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Knowledge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120AA-C7EA-4FDC-A673-49836777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7198F-3A4C-4C6C-8EB9-80E2D12C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CE9DA-37EA-4630-85EB-B11DD6C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2CE2C-04A1-4CA3-9006-F995B1C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9A599-CD8E-4318-A8D7-1BA64F26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86CD5-980B-4C1A-AD4F-89F6096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044B5-70D7-4855-91C7-3516199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Execution workflows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78E060-B6C7-47B5-9086-6C4E4C92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Assets, work orders, workshop,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logbook, calibration, inspections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and overhaul modules cover planning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through field closure.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767E7-6E2C-4684-9CB6-A0E7CCB4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A17EA-1489-4039-B396-B3C9200A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B05BD-42B2-42CB-9E8A-53653F1A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1360B-2205-4658-8002-2BE749F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256C5B-1039-4A83-B2C0-CDCFCD55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7B419-E47A-43D2-9A7A-23B06C62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14537B-8332-49D9-B21E-B88BACE1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Planning and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EF53A1-12AA-4810-A197-BA2FD253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Procurement, MRP, manpower,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contracts, training, energy,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reports and collaboration widen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system from maintenance execution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into enterprise coordination.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9F1F5C-328C-4BA8-A87B-8F26BE2B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4A03DF-DE72-42CA-8CDD-5D7A284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A4E4DC-2E79-4534-ACE8-2C6E005B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4B693A-9E10-44B7-871F-DAF277EE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000B0E-EA29-4C58-8E46-2971888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6E2FAA-D597-467C-BA8A-93CF646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7E4CA2-AC7A-40C8-B50F-9CEDBD2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Knowledge + analytics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FB9067-02E7-4DC3-92C5-52602C3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Manuals, drawings, KPI summaries,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health tables and Kelvin AI make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app searchable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decision-support oriented instead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of purely transactional.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3C8D4E-A368-4FD9-8E22-93369789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483087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0d6640c4f4d7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36F9D-F3B4-464B-B570-4500BAD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D9701-F018-480D-9528-1DC8897D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261DA-C0FB-4526-9E41-7226EF2D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1BC3-B280-4795-9151-765D1C06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2D874-96C9-4FAA-A770-DB1F5B32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05D37-C12F-450A-A562-9974509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0A9D4-EC5C-4F31-8B60-AA3C9EC7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CODE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A6C6F-103A-4885-B7C4-A0E5C8DD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08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3D21D-D4B4-485C-97EB-FE200A94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D5A21-965A-4BC0-AA76-A91B508E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50FC5-EE09-4670-87D4-BC5A6C95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most important review work is around trust boundaries and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98728-DC0B-41E8-8A91-28F96A7A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recent fixes focus on preserving universal login, keeping permission mutations alive, and ensuring schema changes are actually deployable.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51AE0-C141-424B-BB78-8209EAD5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27614-7CD4-46B1-99A1-902F931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2F53C-E438-48A6-B579-1A6DDBD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304B1-3B88-4FC8-AADD-400DBE5F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Migrations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83D46-AF96-45A4-8862-A5B8A3C7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2782B-F4E4-4122-98E4-2C04821E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Reliability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8DA88-70FF-4A4C-AC01-C2CAF3C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A5CC1-C389-4AA4-8ECD-39603EC6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B8661-DA68-4E12-AB65-C794DD4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FBDA9-466D-4337-9E4D-FF909161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A82E2-D6B9-4BDA-AC17-6F6DE87C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B1879-95C5-46C2-8AD6-E3304ACA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ADEA1-C108-47FA-980B-D3EAD5B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Fixed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F692C-C120-414E-A184-172473E9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User permission flow in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authController again returns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updates canCreateWorkOrder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canCloseWorkOrder, which keeps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manpower controls functional.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806D5-5EFB-45FE-8553-8F1C4C7F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20331-6A76-4BD3-B946-D08145E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D10A1-6756-407C-917E-B95E2FE1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B17B52-D6DB-4CE5-994C-1A8259D8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7FF83-2630-4147-B0B0-4C8754B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E1DE8-2FFA-4985-85AD-5C1B928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7988EC-D24B-4151-B76F-86624CCE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Fixed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DCA54C-890E-425F-8A6F-C47B54C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Prisma migration coverage now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exists for the added audit,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repository and gas compression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tables so documented deploys can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create the new schema objects.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BE30E5-853F-4AF2-A5C4-81E3B7C2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BC1F7E-2A27-47C8-9FF8-7D3139EE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359E22-8805-4766-8D05-5073E609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84F64-22F7-4DE9-A8F6-7E5B1F94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BA1F98-9949-4636-BD97-E46BFCA9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4A38BE-D9FE-4ECB-9104-0D7166E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409041-95BB-40E9-84C4-C10CE29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Still worth doing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A243CB-273D-4542-9E2C-947145F6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The app needs broader tests,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stricter typed API clients,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endpoint-level scope enforcement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for contractor access,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continued decomposition of the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largest module screens.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001D7C-4BD1-4F8B-99A7-7D49B67C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1387794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F357E-1CDA-40C0-B4DF-0C1E018A45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ae1a4900465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270E5-840F-4645-A8E1-EC8D578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838200"/>
            <a:ext cx="3924300" cy="392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4367D-326D-4880-809A-2110C57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AD6A8-3394-4BA2-9256-80FFB23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76800"/>
            <a:ext cx="2895600" cy="289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9525F-92F8-4A9D-870A-4DC37E1C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00100"/>
            <a:ext cx="381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B3F81-E14F-48E9-9E45-B906073D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953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7803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8F1F8-EE5D-4267-9CB5-83C2C34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7F75F-1115-4A6F-A960-63B25B1C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NEXT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294B1-6E60-4DA0-9521-3F8ECE7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F62"/>
                </a:solidFill>
              </a:defRPr>
            </a:pPr>
            <a:r>
              <a:rPr sz="975" b="1">
                <a:solidFill>
                  <a:srgbClr val="0B5F62"/>
                </a:solidFill>
              </a:rPr>
              <a:t>09 /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6F8D9-1EB4-4B15-8B7D-E6EEA71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5E503-813D-4587-8BD0-A6500458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8336-8E82-4497-8BD4-2DC99A79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current platform is ready for a scoped contractor workspace on the same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117DE-71E1-4F7F-95A2-B9259FF8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Because the system already has a broad operational schema and shared auth patterns, the next expansion should be a permission-scoped external shell rather than a separate product.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7903D-69DA-454C-B6AB-5D5FC2D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4F54B-AC29-40A1-881A-B4309398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Same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428ED-D069-4DBB-95D5-60D508B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C20B4-06B1-43D3-A917-C7F69ACE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Scoped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711E9-6C29-497A-9B7C-AF15691E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362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7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972CB-018E-4A11-8E20-C659D64D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5F62"/>
                </a:solidFill>
              </a:defRPr>
            </a:pPr>
            <a:r>
              <a:rPr sz="825" b="1">
                <a:solidFill>
                  <a:srgbClr val="0B5F62"/>
                </a:solidFill>
              </a:rPr>
              <a:t>Next Phase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E311B-F966-4B1C-A0BC-647F00E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7AA74-CC52-4D60-ABC0-8637FBA4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7AAF3-BFB7-4D49-B1AF-ABBD0AF0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A8FEE-7F63-4BD8-8BDC-8467C9DA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433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94B9A-57AB-43C5-9E9F-58909EF6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671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806B2-CA0A-4507-8662-2160263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0EC24-98FC-475A-83A8-6BBDA658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Contract workspaces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BC2-1C93-4DBC-88F2-B233F636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Use Contract as the workspace root,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map external users to scoped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installations, assets and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instrument types, and enforce that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scope on every contractor API.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001A4-2DCB-43F9-9FD0-2582BC37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EB7C40-2AF9-4AF4-B04E-D48E9AF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2DAE0-790F-413F-9C63-8A237114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EF3950-B9A1-4B90-8665-B0A58709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25E015-1959-4269-8911-9376CCC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5A77D3-DE07-4C7E-8E53-8AE43244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052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CD96A7-196A-4556-9C25-C7F03D7C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Shared operating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5F0800-7240-4544-BAD2-C0451D83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Internal and external teams can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update the same instruments,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equipment, reports and work orders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as long as permissions stay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server-side and auditable.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4A4552-5095-4601-93D1-811F784F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33845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3FF667-3782-485F-8DFD-6DEF67B2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385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7DFE8D-607A-424D-B994-6F8E243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867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11430">
            <a:solidFill>
              <a:srgbClr val="0F172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E8325-8B58-4C65-88C8-F2DEAE68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100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94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27DE01-85EC-47F1-8E62-07D54D43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0957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E38101-5A84-459D-BDEB-C72AB89D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1814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5A6CC3-E135-49C0-839D-65F3BA7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8481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F62"/>
                </a:solidFill>
              </a:defRPr>
            </a:pPr>
            <a:r>
              <a:rPr sz="1125" b="1">
                <a:solidFill>
                  <a:srgbClr val="0B5F62"/>
                </a:solidFill>
              </a:rPr>
              <a:t>Execution priority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87E62-7228-4C05-91A5-2D81AB35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457700"/>
            <a:ext cx="292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Harden API authorization, add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canary tests, simplify the largest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screens and tune local Gemma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performance before scaling the app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outward.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422660-621D-47EA-8784-2881D4B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Repository snapshot: 20 Apr 2026</a:t>
            </a:r>
          </a:p>
        </p:txBody>
      </p:sp>
    </p:spTree>
    <p:extLst>
      <p:ext uri="{BB962C8B-B14F-4D97-AF65-F5344CB8AC3E}">
        <p14:creationId xmlns:p14="http://schemas.microsoft.com/office/powerpoint/2010/main" val="427866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2026-04-20T16:55:46.0180000Z</dcterms:created>
  <dcterms:modified xsi:type="dcterms:W3CDTF">2026-04-20T16:55:46.0180000Z</dcterms:modified>
</coreProperties>
</file>